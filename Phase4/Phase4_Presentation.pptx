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project details, filenames, hashes, and observed command outputs from Phases 1–3.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project details, filenames, hashes, and observed command outputs from Phases 1–3.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project details, filenames, hashes, and observed command outputs from Phases 1–3.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project details, filenames, hashes, and observed command outputs from Phases 1–3.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project details, filenames, hashes, and observed command outputs from Phases 1–3.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project details, filenames, hashes, and observed command outputs from Phases 1–3.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project details, filenames, hashes, and observed command outputs from Phases 1–3.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project details, filenames, hashes, and observed command outputs from Phases 1–3.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project details, filenames, hashes, and observed command outputs from Phases 1–3.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1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3150"/>
          </a:solidFill>
          <a:ln w="12700">
            <a:solidFill>
              <a:srgbClr val="0E31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26280"/>
            <a:ext cx="12191695" cy="2331720"/>
          </a:xfrm>
          <a:prstGeom prst="rect">
            <a:avLst/>
          </a:prstGeom>
          <a:solidFill>
            <a:srgbClr val="0A2338">
              <a:alpha val="90000"/>
            </a:srgbClr>
          </a:solidFill>
          <a:ln w="12700">
            <a:solidFill>
              <a:srgbClr val="0A233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548640"/>
            <a:ext cx="3657600" cy="3657600"/>
          </a:xfrm>
          <a:prstGeom prst="arc">
            <a:avLst/>
          </a:prstGeom>
          <a:solidFill>
            <a:srgbClr val="2A6A9F">
              <a:alpha val="0"/>
            </a:srgbClr>
          </a:solidFill>
          <a:ln w="12700">
            <a:solidFill>
              <a:srgbClr val="2A6A9F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0" y="1097280"/>
            <a:ext cx="2377440" cy="2377440"/>
          </a:xfrm>
          <a:prstGeom prst="arc">
            <a:avLst/>
          </a:prstGeom>
          <a:solidFill>
            <a:srgbClr val="8FC8FF">
              <a:alpha val="0"/>
            </a:srgbClr>
          </a:solidFill>
          <a:ln w="12700">
            <a:solidFill>
              <a:srgbClr val="8FC8FF">
                <a:alpha val="5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430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Forensic Case Report – Phase 4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49808" y="178308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9ECFF"/>
                </a:solidFill>
              </a:rPr>
              <a:t>Simulated Cold-Case Hard Drive Recovery Investigation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49808" y="53492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ECFF"/>
                </a:solidFill>
              </a:rPr>
              <a:t>CIST 2612 – Digital Forensics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" y="5687568"/>
            <a:ext cx="5852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C7E6"/>
                </a:solidFill>
              </a:rPr>
              <a:t>Phases 1–4: Planning → Acquisition → Analysis → Final Reporting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0" y="4526280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EC6EA"/>
                </a:solidFill>
              </a:rPr>
              <a:t>Case focus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0" y="4736592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Recovered drive from a lake tied to cold-case evidence, acquired on Kali and analyzed through disk + PCAP evidence.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5B8F"/>
          </a:solidFill>
          <a:ln w="12700">
            <a:solidFill>
              <a:srgbClr val="1E5B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749808"/>
            <a:ext cx="11247120" cy="0"/>
          </a:xfrm>
          <a:prstGeom prst="line">
            <a:avLst/>
          </a:prstGeom>
          <a:noFill/>
          <a:ln w="12700">
            <a:solidFill>
              <a:srgbClr val="C8D8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Case Overview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144000" y="109728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7E8F8"/>
                </a:solidFill>
              </a:rPr>
              <a:t>Scope &amp; systems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9601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5B8F"/>
                </a:solidFill>
              </a:rPr>
              <a:t>Investigation narrative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5394960" cy="3291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1 defined a Kali-based forensic workflow around a hard drive recovered from a lake used as a dumping site for cold-case evidence.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2 created a controlled Oracle Ubuntu target, generated a simulated recovered drive, and acquired it to Kali on Azure.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3 analyzed the acquired disk image and packet capture to identify artifacts, suspicious content, and the event sequence.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629400" y="1234440"/>
            <a:ext cx="4754880" cy="3063240"/>
          </a:xfrm>
          <a:prstGeom prst="rect">
            <a:avLst/>
          </a:prstGeom>
          <a:solidFill>
            <a:srgbClr val="FFFFFF"/>
          </a:solidFill>
          <a:ln>
            <a:solidFill>
              <a:srgbClr val="C8D8EA"/>
            </a:solidFill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324A"/>
                </a:solidFill>
              </a:rPr>
              <a:t>Forensic workstation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2324A"/>
                </a:solidFill>
              </a:rPr>
              <a:t>Kali Linux VM on Azure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2324A"/>
                </a:solidFill>
              </a:rPr>
              <a:t>Target system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2324A"/>
                </a:solidFill>
              </a:rPr>
              <a:t>Oracle Ubuntu 22.04.5 LTS VM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2324A"/>
                </a:solidFill>
              </a:rPr>
              <a:t>Evidence analyzed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2324A"/>
                </a:solidFill>
              </a:rPr>
              <a:t>• recovered_drive.raw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2324A"/>
                </a:solidFill>
              </a:rPr>
              <a:t>• phase2_transfer_capture_success.pcap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846320"/>
            <a:ext cx="10424160" cy="0"/>
          </a:xfrm>
          <a:prstGeom prst="line">
            <a:avLst/>
          </a:prstGeom>
          <a:noFill/>
          <a:ln w="12700">
            <a:solidFill>
              <a:srgbClr val="C8D8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50749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8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3272" y="523036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B8F"/>
                </a:solidFill>
              </a:rPr>
              <a:t>Phase 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54864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2324A"/>
                </a:solidFill>
              </a:rPr>
              <a:t>Plan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2324A"/>
                </a:solidFill>
              </a:rPr>
              <a:t>tools + chain of custody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0" y="50749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8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22192" y="523036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B8F"/>
                </a:solidFill>
              </a:rPr>
              <a:t>Phase 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794760" y="54864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2324A"/>
                </a:solidFill>
              </a:rPr>
              <a:t>Acquire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2324A"/>
                </a:solidFill>
              </a:rPr>
              <a:t>disk image + PCAP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46520" y="50749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8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11112" y="523036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B8F"/>
                </a:solidFill>
              </a:rPr>
              <a:t>Phase 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83680" y="54864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2324A"/>
                </a:solidFill>
              </a:rPr>
              <a:t>Analyze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2324A"/>
                </a:solidFill>
              </a:rPr>
              <a:t>files + transfer traffic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235440" y="50749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1E5B8F"/>
          </a:solidFill>
          <a:ln w="12700">
            <a:solidFill>
              <a:srgbClr val="C8D8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00032" y="523036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Phase 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372600" y="54864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9ECFF"/>
                </a:solidFill>
              </a:rPr>
              <a:t>Report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D9ECFF"/>
                </a:solidFill>
              </a:rPr>
              <a:t>case report + presentation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384280" y="6473952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3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5B8F"/>
          </a:solidFill>
          <a:ln w="12700">
            <a:solidFill>
              <a:srgbClr val="1E5B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749808"/>
            <a:ext cx="11247120" cy="0"/>
          </a:xfrm>
          <a:prstGeom prst="line">
            <a:avLst/>
          </a:prstGeom>
          <a:noFill/>
          <a:ln w="12700">
            <a:solidFill>
              <a:srgbClr val="C8D8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 Summary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144000" y="109728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7E8F8"/>
                </a:solidFill>
              </a:rPr>
              <a:t>Phase 2 reference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5257800" cy="2468880"/>
          </a:xfrm>
          <a:prstGeom prst="rect">
            <a:avLst/>
          </a:prstGeom>
          <a:solidFill>
            <a:srgbClr val="FFFFFF"/>
          </a:solidFill>
          <a:ln>
            <a:solidFill>
              <a:srgbClr val="C8D8EA"/>
            </a:solidFill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324A"/>
                </a:solidFill>
              </a:rPr>
              <a:t>EVID-001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2324A"/>
                </a:solidFill>
              </a:rPr>
              <a:t>Simulated recovered hard drive image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2324A"/>
                </a:solidFill>
              </a:rPr>
              <a:t>Filename: recovered_drive.raw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2324A"/>
                </a:solidFill>
              </a:rPr>
              <a:t>Location: /home/kali-admin/evidence/phase2/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2324A"/>
                </a:solidFill>
              </a:rPr>
              <a:t>SHA256: b4c3300bfb779d1c48473678e117a1f890e7430c537a52d3e7dfee6088fd7b03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2324A"/>
                </a:solidFill>
              </a:rPr>
              <a:t>MD5: 2dd1eaf4f2ff9a4074d3b719d79e0ef2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217920" y="1143000"/>
            <a:ext cx="5257800" cy="2468880"/>
          </a:xfrm>
          <a:prstGeom prst="rect">
            <a:avLst/>
          </a:prstGeom>
          <a:solidFill>
            <a:srgbClr val="FFFFFF"/>
          </a:solidFill>
          <a:ln>
            <a:solidFill>
              <a:srgbClr val="C8D8EA"/>
            </a:solidFill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324A"/>
                </a:solidFill>
              </a:rPr>
              <a:t>EVID-002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2324A"/>
                </a:solidFill>
              </a:rPr>
              <a:t>Network packet capture of acquisition session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2324A"/>
                </a:solidFill>
              </a:rPr>
              <a:t>Filename: phase2_transfer_capture_success.pcap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2324A"/>
                </a:solidFill>
              </a:rPr>
              <a:t>Location: /home/kali-admin/evidence/phase2/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2324A"/>
                </a:solidFill>
              </a:rPr>
              <a:t>Acquired with tcpdump during SCP transfer from Oracle to Kali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931920"/>
            <a:ext cx="107442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8D8EA"/>
            </a:solidFill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324A"/>
                </a:solidFill>
              </a:rPr>
              <a:t>Chain of custody confirmation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2324A"/>
                </a:solidFill>
              </a:rPr>
              <a:t>• Evidence was acquired in Phase 2 and stored in a dedicated evidence directory on the Kali forensic workstation.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2324A"/>
                </a:solidFill>
              </a:rPr>
              <a:t>• Integrity was preserved through cryptographic hashing and re-verification before analysis in Phase 3.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2324A"/>
                </a:solidFill>
              </a:rPr>
              <a:t>• Analysis was performed only on the acquired copies, not on the Oracle source.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384280" y="6473952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3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5B8F"/>
          </a:solidFill>
          <a:ln w="12700">
            <a:solidFill>
              <a:srgbClr val="1E5B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749808"/>
            <a:ext cx="11247120" cy="0"/>
          </a:xfrm>
          <a:prstGeom prst="line">
            <a:avLst/>
          </a:prstGeom>
          <a:noFill/>
          <a:ln w="12700">
            <a:solidFill>
              <a:srgbClr val="C8D8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Methodology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144000" y="109728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7E8F8"/>
                </a:solidFill>
              </a:rPr>
              <a:t>Tools &amp; rationale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98755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5B8F"/>
                </a:solidFill>
              </a:rPr>
              <a:t>Disk image analysis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1325880"/>
            <a:ext cx="484632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fsstat to identify file-system structure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fls to enumerate files and metadata inside the raw image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strings to confirm visible text artifacts without altering evidence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263640" y="98755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5B8F"/>
                </a:solidFill>
              </a:rPr>
              <a:t>Network capture analysis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355080" y="1325880"/>
            <a:ext cx="493776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tcpdump to validate the packet capture and isolate SSH traffic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Wireshark suitable for visual review and screenshots if needed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Chosen because Phase 2 produced a PCAP documenting the acquisition session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3657600"/>
            <a:ext cx="5166360" cy="2011680"/>
          </a:xfrm>
          <a:prstGeom prst="rect">
            <a:avLst/>
          </a:prstGeom>
          <a:solidFill>
            <a:srgbClr val="EEF5FB"/>
          </a:solidFill>
          <a:ln>
            <a:solidFill>
              <a:srgbClr val="CFE0F1"/>
            </a:solidFill>
          </a:ln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3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fsstat recovered_drive.raw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3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fls -r recovered_drive.raw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3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strings recovered_drive.raw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3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tcpdump -nn -r phase2_transfer_capture_success.pcap port 22 | head -20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309360" y="3657600"/>
            <a:ext cx="480060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C8D8EA"/>
            </a:solidFill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324A"/>
                </a:solidFill>
              </a:rPr>
              <a:t>Methodological note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2324A"/>
                </a:solidFill>
              </a:rPr>
              <a:t>Because Bastion access allowed one practical interactive session during acquisition, tcpdump was run in the background using nohup. This did not change evidence integrity or the chain of custody.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384280" y="6473952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3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5B8F"/>
          </a:solidFill>
          <a:ln w="12700">
            <a:solidFill>
              <a:srgbClr val="1E5B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749808"/>
            <a:ext cx="11247120" cy="0"/>
          </a:xfrm>
          <a:prstGeom prst="line">
            <a:avLst/>
          </a:prstGeom>
          <a:noFill/>
          <a:ln w="12700">
            <a:solidFill>
              <a:srgbClr val="C8D8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Detailed Findings: Disk Image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144000" y="109728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7E8F8"/>
                </a:solidFill>
              </a:rPr>
              <a:t>recovered_drive.raw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379476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C8D8EA"/>
            </a:solidFill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324A"/>
                </a:solidFill>
              </a:rPr>
              <a:t>Files identified in the image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2324A"/>
                </a:solidFill>
              </a:rPr>
              <a:t>• case_notes.txt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2324A"/>
                </a:solidFill>
              </a:rPr>
              <a:t>• interview_log.txt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2324A"/>
                </a:solidFill>
              </a:rPr>
              <a:t>• custody_notes.txt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2324A"/>
                </a:solidFill>
              </a:rPr>
              <a:t>• .archive.dat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754880" y="1143000"/>
            <a:ext cx="3794760" cy="2468880"/>
          </a:xfrm>
          <a:prstGeom prst="rect">
            <a:avLst/>
          </a:prstGeom>
          <a:solidFill>
            <a:srgbClr val="FFFFFF"/>
          </a:solidFill>
          <a:ln>
            <a:solidFill>
              <a:srgbClr val="C8D8EA"/>
            </a:solidFill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324A"/>
                </a:solidFill>
              </a:rPr>
              <a:t>Why .archive.dat mattered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2324A"/>
                </a:solidFill>
              </a:rPr>
              <a:t>• hidden filename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2324A"/>
                </a:solidFill>
              </a:rPr>
              <a:t>• vague archive-style label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2324A"/>
                </a:solidFill>
              </a:rPr>
              <a:t>• possible concealed or intentionally obscured evidence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2324A"/>
                </a:solidFill>
              </a:rPr>
              <a:t>In a real case, this file would be prioritized for deeper extraction, metadata review, and content inspection.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778240" y="1143000"/>
            <a:ext cx="2697480" cy="2468880"/>
          </a:xfrm>
          <a:prstGeom prst="rect">
            <a:avLst/>
          </a:prstGeom>
          <a:solidFill>
            <a:srgbClr val="EEF5FB"/>
          </a:solidFill>
          <a:ln>
            <a:solidFill>
              <a:srgbClr val="CFE0F1"/>
            </a:solidFill>
          </a:ln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3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strings recovered_drive.raw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3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 Cold case notes related to recovered evidence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3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 Interview summary placeholder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3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 Lake recovery chain of custody draft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3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 hidden archive placeholder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4069080"/>
            <a:ext cx="1074420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C8D8EA"/>
            </a:solidFill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324A"/>
                </a:solidFill>
              </a:rPr>
              <a:t>Interpretation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2324A"/>
                </a:solidFill>
              </a:rPr>
              <a:t>The disk image successfully preserved evidence-like artifacts associated with the cold-case scenario defined in Phase 1. The hidden file represented the strongest suspicious artifact even though no active malware was observed.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384280" y="6473952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3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5B8F"/>
          </a:solidFill>
          <a:ln w="12700">
            <a:solidFill>
              <a:srgbClr val="1E5B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749808"/>
            <a:ext cx="11247120" cy="0"/>
          </a:xfrm>
          <a:prstGeom prst="line">
            <a:avLst/>
          </a:prstGeom>
          <a:noFill/>
          <a:ln w="12700">
            <a:solidFill>
              <a:srgbClr val="C8D8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Detailed Findings: Network Capture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144000" y="109728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7E8F8"/>
                </a:solidFill>
              </a:rPr>
              <a:t>phase2_transfer_capture_success.pcap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6583680" cy="2148840"/>
          </a:xfrm>
          <a:prstGeom prst="rect">
            <a:avLst/>
          </a:prstGeom>
          <a:solidFill>
            <a:srgbClr val="EEF5FB"/>
          </a:solidFill>
          <a:ln>
            <a:solidFill>
              <a:srgbClr val="CFE0F1"/>
            </a:solidFill>
          </a:ln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3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18:12:25.807066 IP kali.internal.cloudapp.net.36328 &gt; 129.80.96.171.ssh: Flags [S]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3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18:12:25.812799 IP 129.80.96.171.ssh &gt; kali.internal.cloudapp.net.36328: Flags [S.]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3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18:12:25.812907 IP kali.internal.cloudapp.net.36328 &gt; 129.80.96.171.ssh: SSH-2.0-OpenSSH_10.2p1 Debian-5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3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18:12:25.831990 IP 129.80.96.171.ssh &gt; kali.internal.cloudapp.net.36328: SSH-2.0-OpenSSH_8.9p1 Ubuntu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543800" y="1261872"/>
            <a:ext cx="388620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Traffic showed a complete TCP handshake followed by SSH banner exchange.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Encrypted session traffic matched the Phase 2 SCP acquisition workflow from Oracle to Kali.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unrelated domains, protocols, or exfiltration indicators were observed in the reviewed capture.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3977640"/>
            <a:ext cx="1074420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C8D8EA"/>
            </a:solidFill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324A"/>
                </a:solidFill>
              </a:rPr>
              <a:t>Interpretation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2324A"/>
                </a:solidFill>
              </a:rPr>
              <a:t>The PCAP validated the acquisition session itself. It corroborated the documented chain of custody by showing when the forensic workstation connected to the target and transferred the preserved disk image.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384280" y="6473952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3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5B8F"/>
          </a:solidFill>
          <a:ln w="12700">
            <a:solidFill>
              <a:srgbClr val="1E5B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749808"/>
            <a:ext cx="11247120" cy="0"/>
          </a:xfrm>
          <a:prstGeom prst="line">
            <a:avLst/>
          </a:prstGeom>
          <a:noFill/>
          <a:ln w="12700">
            <a:solidFill>
              <a:srgbClr val="C8D8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Timeline Reconstruction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144000" y="109728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7E8F8"/>
                </a:solidFill>
              </a:rPr>
              <a:t>Consolidated sequence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2960" y="1097280"/>
            <a:ext cx="475488" cy="384048"/>
          </a:xfrm>
          <a:prstGeom prst="roundRect">
            <a:avLst>
              <a:gd name="adj" fmla="val 19048"/>
            </a:avLst>
          </a:prstGeom>
          <a:solidFill>
            <a:srgbClr val="1E5B8F"/>
          </a:solidFill>
          <a:ln w="12700">
            <a:solidFill>
              <a:srgbClr val="1E5B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152144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69848" y="1481328"/>
            <a:ext cx="0" cy="329184"/>
          </a:xfrm>
          <a:prstGeom prst="line">
            <a:avLst/>
          </a:prstGeom>
          <a:noFill/>
          <a:ln w="12700">
            <a:solidFill>
              <a:srgbClr val="C8D8EA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1508760" y="1115568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2324A"/>
                </a:solidFill>
              </a:rPr>
              <a:t>Simulated evidence disk created on Oracle target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22960" y="1810512"/>
            <a:ext cx="475488" cy="384048"/>
          </a:xfrm>
          <a:prstGeom prst="roundRect">
            <a:avLst>
              <a:gd name="adj" fmla="val 19048"/>
            </a:avLst>
          </a:prstGeom>
          <a:solidFill>
            <a:srgbClr val="1E5B8F"/>
          </a:solidFill>
          <a:ln w="12700">
            <a:solidFill>
              <a:srgbClr val="1E5B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1865376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69848" y="2194560"/>
            <a:ext cx="0" cy="329184"/>
          </a:xfrm>
          <a:prstGeom prst="line">
            <a:avLst/>
          </a:prstGeom>
          <a:noFill/>
          <a:ln w="12700">
            <a:solidFill>
              <a:srgbClr val="C8D8EA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1508760" y="182880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2324A"/>
                </a:solidFill>
              </a:rPr>
              <a:t>Evidence-like files added: case notes, interview log, custody notes, hidden archive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822960" y="2523744"/>
            <a:ext cx="475488" cy="384048"/>
          </a:xfrm>
          <a:prstGeom prst="roundRect">
            <a:avLst>
              <a:gd name="adj" fmla="val 19048"/>
            </a:avLst>
          </a:prstGeom>
          <a:solidFill>
            <a:srgbClr val="1E5B8F"/>
          </a:solidFill>
          <a:ln w="12700">
            <a:solidFill>
              <a:srgbClr val="1E5B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2578608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69848" y="2907792"/>
            <a:ext cx="0" cy="329184"/>
          </a:xfrm>
          <a:prstGeom prst="line">
            <a:avLst/>
          </a:prstGeom>
          <a:noFill/>
          <a:ln w="12700">
            <a:solidFill>
              <a:srgbClr val="C8D8EA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1508760" y="2542032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2324A"/>
                </a:solidFill>
              </a:rPr>
              <a:t>Disk finalized and prepared for acquisition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822960" y="3236976"/>
            <a:ext cx="475488" cy="384048"/>
          </a:xfrm>
          <a:prstGeom prst="roundRect">
            <a:avLst>
              <a:gd name="adj" fmla="val 19048"/>
            </a:avLst>
          </a:prstGeom>
          <a:solidFill>
            <a:srgbClr val="1E5B8F"/>
          </a:solidFill>
          <a:ln w="12700">
            <a:solidFill>
              <a:srgbClr val="1E5B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3291840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69848" y="3621024"/>
            <a:ext cx="0" cy="329184"/>
          </a:xfrm>
          <a:prstGeom prst="line">
            <a:avLst/>
          </a:prstGeom>
          <a:noFill/>
          <a:ln w="12700">
            <a:solidFill>
              <a:srgbClr val="C8D8EA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1508760" y="3255264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2324A"/>
                </a:solidFill>
              </a:rPr>
              <a:t>Kali initiated SSH connection to Oracle VM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822960" y="3950208"/>
            <a:ext cx="475488" cy="384048"/>
          </a:xfrm>
          <a:prstGeom prst="roundRect">
            <a:avLst>
              <a:gd name="adj" fmla="val 19048"/>
            </a:avLst>
          </a:prstGeom>
          <a:solidFill>
            <a:srgbClr val="1E5B8F"/>
          </a:solidFill>
          <a:ln w="12700">
            <a:solidFill>
              <a:srgbClr val="1E5B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" y="4005072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69848" y="4334256"/>
            <a:ext cx="0" cy="329184"/>
          </a:xfrm>
          <a:prstGeom prst="line">
            <a:avLst/>
          </a:prstGeom>
          <a:noFill/>
          <a:ln w="12700">
            <a:solidFill>
              <a:srgbClr val="C8D8EA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1508760" y="3968496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2324A"/>
                </a:solidFill>
              </a:rPr>
              <a:t>SCP transfer session captured in PCAP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822960" y="4663440"/>
            <a:ext cx="475488" cy="384048"/>
          </a:xfrm>
          <a:prstGeom prst="roundRect">
            <a:avLst>
              <a:gd name="adj" fmla="val 19048"/>
            </a:avLst>
          </a:prstGeom>
          <a:solidFill>
            <a:srgbClr val="1E5B8F"/>
          </a:solidFill>
          <a:ln w="12700">
            <a:solidFill>
              <a:srgbClr val="1E5B8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" y="4718304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069848" y="5047488"/>
            <a:ext cx="0" cy="329184"/>
          </a:xfrm>
          <a:prstGeom prst="line">
            <a:avLst/>
          </a:prstGeom>
          <a:noFill/>
          <a:ln w="12700">
            <a:solidFill>
              <a:srgbClr val="C8D8EA"/>
            </a:solidFill>
            <a:prstDash val="solid"/>
            <a:headEnd type="none"/>
            <a:tailEnd type="none"/>
          </a:ln>
        </p:spPr>
      </p:sp>
      <p:sp>
        <p:nvSpPr>
          <p:cNvPr id="29" name="Text 27"/>
          <p:cNvSpPr/>
          <p:nvPr/>
        </p:nvSpPr>
        <p:spPr>
          <a:xfrm>
            <a:off x="1508760" y="4681728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2324A"/>
                </a:solidFill>
              </a:rPr>
              <a:t>Disk image stored on Kali and verified with hashes</a:t>
            </a:r>
            <a:endParaRPr lang="en-US" sz="1900" dirty="0"/>
          </a:p>
        </p:txBody>
      </p:sp>
      <p:sp>
        <p:nvSpPr>
          <p:cNvPr id="30" name="Shape 28"/>
          <p:cNvSpPr/>
          <p:nvPr/>
        </p:nvSpPr>
        <p:spPr>
          <a:xfrm>
            <a:off x="822960" y="5376672"/>
            <a:ext cx="475488" cy="384048"/>
          </a:xfrm>
          <a:prstGeom prst="roundRect">
            <a:avLst>
              <a:gd name="adj" fmla="val 19048"/>
            </a:avLst>
          </a:prstGeom>
          <a:solidFill>
            <a:srgbClr val="1E5B8F"/>
          </a:solidFill>
          <a:ln w="12700">
            <a:solidFill>
              <a:srgbClr val="1E5B8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1248" y="5431536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7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069848" y="5760720"/>
            <a:ext cx="0" cy="329184"/>
          </a:xfrm>
          <a:prstGeom prst="line">
            <a:avLst/>
          </a:prstGeom>
          <a:noFill/>
          <a:ln w="12700">
            <a:solidFill>
              <a:srgbClr val="C8D8EA"/>
            </a:solidFill>
            <a:prstDash val="solid"/>
            <a:headEnd type="none"/>
            <a:tailEnd type="none"/>
          </a:ln>
        </p:spPr>
      </p:sp>
      <p:sp>
        <p:nvSpPr>
          <p:cNvPr id="33" name="Text 31"/>
          <p:cNvSpPr/>
          <p:nvPr/>
        </p:nvSpPr>
        <p:spPr>
          <a:xfrm>
            <a:off x="1508760" y="539496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2324A"/>
                </a:solidFill>
              </a:rPr>
              <a:t>Phase 3 analysis completed and findings documented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868680" y="6172200"/>
            <a:ext cx="9966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7083"/>
                </a:solidFill>
              </a:rPr>
              <a:t>Correlated sources: file-system observations from recovered_drive.raw + packet timestamps from phase2_transfer_capture_success.pcap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1384280" y="6473952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3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31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64A73"/>
          </a:solidFill>
          <a:ln w="12700">
            <a:solidFill>
              <a:srgbClr val="164A7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749808"/>
            <a:ext cx="11247120" cy="0"/>
          </a:xfrm>
          <a:prstGeom prst="line">
            <a:avLst/>
          </a:prstGeom>
          <a:noFill/>
          <a:ln w="12700">
            <a:solidFill>
              <a:srgbClr val="6FA4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 &amp; Assessment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144000" y="109728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7E8F8"/>
                </a:solidFill>
              </a:rPr>
              <a:t>Key takeaways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" y="1188720"/>
            <a:ext cx="6400800" cy="3291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ECF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recovered image contained multiple evidence-like cold-case artifacts that were preserved and recoverable.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ECF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hidden file .archive.dat was the most suspicious item because of its concealment and unclear purpose.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ECF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PCAP confirmed the documented SSH/SCP acquisition session from Oracle to the Kali forensic workstation.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ECF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confirmed active malware or live compromise was identified in this dataset.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543800" y="1325880"/>
            <a:ext cx="388620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C8D8EA"/>
            </a:solidFill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324A"/>
                </a:solidFill>
              </a:rPr>
              <a:t>Recommended next steps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2324A"/>
                </a:solidFill>
              </a:rPr>
              <a:t>• deeper analysis of .archive.dat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2324A"/>
                </a:solidFill>
              </a:rPr>
              <a:t>• metadata review of extracted artifacts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2324A"/>
                </a:solidFill>
              </a:rPr>
              <a:t>• compare recovered files to known case records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2324A"/>
                </a:solidFill>
              </a:rPr>
              <a:t>• preserve all evidence, logs, and hashes for follow-on review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543800" y="3794760"/>
            <a:ext cx="388620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C8D8EA"/>
            </a:solidFill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324A"/>
                </a:solidFill>
              </a:rPr>
              <a:t>Confidence level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2324A"/>
                </a:solidFill>
              </a:rPr>
              <a:t>Moderate to high. The evidence chain was controlled, hashes were verified, and the findings were directly tied to the acquired artifacts and packet timestamps.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384280" y="6473952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D8E8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31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64A73"/>
          </a:solidFill>
          <a:ln w="12700">
            <a:solidFill>
              <a:srgbClr val="164A7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749808"/>
            <a:ext cx="11247120" cy="0"/>
          </a:xfrm>
          <a:prstGeom prst="line">
            <a:avLst/>
          </a:prstGeom>
          <a:noFill/>
          <a:ln w="12700">
            <a:solidFill>
              <a:srgbClr val="6FA4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Questions &amp; Defense of Findings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144000" y="109728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7E8F8"/>
                </a:solidFill>
              </a:rPr>
              <a:t>Q&amp;A prep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Be ready to answer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1508760"/>
            <a:ext cx="603504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EDF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were these tools chosen instead of heavier platforms such as Autopsy?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EDF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was evidence authenticity verified?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EDF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makes .archive.dat suspicious if no malware was found?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EDF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additional steps would follow in a real investigation?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949440" y="1508760"/>
            <a:ext cx="365760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C8D8EA"/>
            </a:solidFill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324A"/>
                </a:solidFill>
              </a:rPr>
              <a:t>Short defense points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2324A"/>
                </a:solidFill>
              </a:rPr>
              <a:t>• Tools matched the actual evidence collected in Phase 2.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2324A"/>
                </a:solidFill>
              </a:rPr>
              <a:t>• Hashes preserved integrity before and after acquisition.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2324A"/>
                </a:solidFill>
              </a:rPr>
              <a:t>• Hidden content is a valid suspicious artifact even without malware.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2324A"/>
                </a:solidFill>
              </a:rPr>
              <a:t>• Next steps focus on extraction, metadata, and cross-case comparison.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0" y="51663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CEEFF"/>
                </a:solidFill>
              </a:rPr>
              <a:t>Thank you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1384280" y="6473952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D8E8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Forensic Case Report – Phase 4</dc:title>
  <dc:subject>Phase 4 Final Forensic Case Report</dc:subject>
  <dc:creator>OpenAI</dc:creator>
  <cp:lastModifiedBy>OpenAI</cp:lastModifiedBy>
  <cp:revision>1</cp:revision>
  <dcterms:created xsi:type="dcterms:W3CDTF">2026-04-16T17:59:59Z</dcterms:created>
  <dcterms:modified xsi:type="dcterms:W3CDTF">2026-04-16T17:59:59Z</dcterms:modified>
</cp:coreProperties>
</file>